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66640" cy="213969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66640" cy="26974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30266640" cy="64008"/>
          </a:xfrm>
          <a:prstGeom prst="rect">
            <a:avLst/>
          </a:prstGeom>
          <a:solidFill>
            <a:srgbClr val="922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293522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6400" b="1" i="0">
                <a:solidFill>
                  <a:srgbClr val="FFFFFF"/>
                </a:solidFill>
                <a:latin typeface="Georgia"/>
              </a:rPr>
              <a:t>AC-WLS Power System State Estimation with PMU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29352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800" b="0" i="0">
                <a:solidFill>
                  <a:srgbClr val="FADBD8"/>
                </a:solidFill>
                <a:latin typeface="Calibri"/>
              </a:rPr>
              <a:t>EE574  Power System Real-Time Monitoring &amp; Control  —  Semester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93392"/>
            <a:ext cx="29352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Ogün Altun  (2165785)      ·      Aytunç Evlice  (2516177)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0391119"/>
            <a:ext cx="30266640" cy="102412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0482560"/>
            <a:ext cx="29352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C2833"/>
                </a:solidFill>
                <a:latin typeface="Calibri"/>
              </a:rPr>
              <a:t>References:   </a:t>
            </a:r>
            <a:r>
              <a:rPr sz="1500" b="0" i="0">
                <a:solidFill>
                  <a:srgbClr val="717D7E"/>
                </a:solidFill>
                <a:latin typeface="Calibri"/>
              </a:rPr>
              <a:t>A. Monticelli, State Estimation in Electric Power Systems, Kluwer, 1999   ·   A.J. Wood &amp; B.F. Wollenberg, Power Generation, Operation and Control, Wiley, 2013   ·   IEEE Common Data Format, IEEE Trans. PAS-92(6), 1973   ·   </a:t>
            </a:r>
            <a:r>
              <a:rPr sz="1500" b="1" i="0">
                <a:solidFill>
                  <a:srgbClr val="C0392B"/>
                </a:solidFill>
                <a:latin typeface="Calibri"/>
              </a:rPr>
              <a:t>Code:  github.com/aytunc-evlice/EE574_Project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44952"/>
            <a:ext cx="702945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C0392B"/>
                </a:solidFill>
                <a:latin typeface="Calibri"/>
              </a:rPr>
              <a:t>Introduction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57600"/>
            <a:ext cx="7029450" cy="422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 i="0">
                <a:solidFill>
                  <a:srgbClr val="1C2833"/>
                </a:solidFill>
                <a:latin typeface="Calibri"/>
              </a:rPr>
              <a:t>State estimation is the core algorithm of every Energy Management System: it fuses noisy SCADA and PMU measurements into a consistent estimate of all bus voltages and angles, enabling real-time monitoring and control.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 i="0">
                <a:solidFill>
                  <a:srgbClr val="1C2833"/>
                </a:solidFill>
                <a:latin typeface="Calibri"/>
              </a:rPr>
              <a:t>This project implements a complete AC weighted-least-squares (WLS) estimator from scratch and validates it on the IEEE 14-bus network, randomized networks up to 40 buses, and time-series measurement streams: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 i="0">
                <a:solidFill>
                  <a:srgbClr val="1C2833"/>
                </a:solidFill>
                <a:latin typeface="Calibri"/>
              </a:rPr>
              <a:t>•  Newton-based AC-WLS solver with analytical Jacobian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 i="0">
                <a:solidFill>
                  <a:srgbClr val="1C2833"/>
                </a:solidFill>
                <a:latin typeface="Calibri"/>
              </a:rPr>
              <a:t>•  Numerical observability analysis &amp; PMU placement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 i="0">
                <a:solidFill>
                  <a:srgbClr val="1C2833"/>
                </a:solidFill>
                <a:latin typeface="Calibri"/>
              </a:rPr>
              <a:t>•  Normalized-residual bad data detection and removal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 i="0">
                <a:solidFill>
                  <a:srgbClr val="1C2833"/>
                </a:solidFill>
                <a:latin typeface="Calibri"/>
              </a:rPr>
              <a:t>•  Time-series operation on SCADA (5 s) + PMU (1 s) streams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8110728"/>
            <a:ext cx="702945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 i="0">
                <a:solidFill>
                  <a:srgbClr val="1C2833"/>
                </a:solidFill>
                <a:latin typeface="Calibri"/>
              </a:rPr>
              <a:t>IEEE 14-bus network:  </a:t>
            </a:r>
            <a:r>
              <a:rPr sz="1600" b="0" i="0">
                <a:solidFill>
                  <a:srgbClr val="717D7E"/>
                </a:solidFill>
                <a:latin typeface="Calibri"/>
              </a:rPr>
              <a:t>14 buses, 17 branches incl. 3 off-nominal-tap transformers, 27 states.  PMUs at buses 2, 5, 9, 10, 12, 14 (σ ≈ 10⁻⁴ pu, 50× more accurate than SCADA).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9253728"/>
            <a:ext cx="702945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C0392B"/>
                </a:solidFill>
                <a:latin typeface="Calibri"/>
              </a:rPr>
              <a:t>Network &amp; Observability</a:t>
            </a:r>
          </a:p>
        </p:txBody>
      </p:sp>
      <p:pic>
        <p:nvPicPr>
          <p:cNvPr id="13" name="Picture 12" descr="07_network_iee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66376"/>
            <a:ext cx="7029450" cy="6667314"/>
          </a:xfrm>
          <a:prstGeom prst="rect">
            <a:avLst/>
          </a:prstGeom>
        </p:spPr>
      </p:pic>
      <p:pic>
        <p:nvPicPr>
          <p:cNvPr id="14" name="Picture 13" descr="10_rank_lad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762290"/>
            <a:ext cx="7029450" cy="289419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898129" y="3044952"/>
            <a:ext cx="702945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C0392B"/>
                </a:solidFill>
                <a:latin typeface="Calibri"/>
              </a:rPr>
              <a:t>Methodology</a:t>
            </a:r>
          </a:p>
        </p:txBody>
      </p:sp>
      <p:pic>
        <p:nvPicPr>
          <p:cNvPr id="16" name="Picture 15" descr="01_eq_w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8129" y="3657600"/>
            <a:ext cx="7029450" cy="3817532"/>
          </a:xfrm>
          <a:prstGeom prst="rect">
            <a:avLst/>
          </a:prstGeom>
        </p:spPr>
      </p:pic>
      <p:pic>
        <p:nvPicPr>
          <p:cNvPr id="17" name="Picture 16" descr="02_eq_observabil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98129" y="7703732"/>
            <a:ext cx="7029450" cy="4740372"/>
          </a:xfrm>
          <a:prstGeom prst="rect">
            <a:avLst/>
          </a:prstGeom>
        </p:spPr>
      </p:pic>
      <p:pic>
        <p:nvPicPr>
          <p:cNvPr id="18" name="Picture 17" descr="03_eq_baddat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8129" y="12672704"/>
            <a:ext cx="7029450" cy="38175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898129" y="16718836"/>
            <a:ext cx="702945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 i="0">
                <a:solidFill>
                  <a:srgbClr val="1C2833"/>
                </a:solidFill>
                <a:latin typeface="Calibri"/>
              </a:rPr>
              <a:t>Implementation:  </a:t>
            </a:r>
            <a:r>
              <a:rPr sz="1600" b="0" i="0">
                <a:solidFill>
                  <a:srgbClr val="717D7E"/>
                </a:solidFill>
                <a:latin typeface="Calibri"/>
              </a:rPr>
              <a:t>Python / NumPy from scratch — IEEE CDF parser, transformer π-model, analytical Jacobian, warm start from load flow, backtracking line search (2–3 Newton iterations), innovation pre-screen (300σ) for gross PMU errors, and an interactive GUI for running the estimator on any CDF + measurement set.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39059" y="3044952"/>
            <a:ext cx="702945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C0392B"/>
                </a:solidFill>
                <a:latin typeface="Calibri"/>
              </a:rPr>
              <a:t>Algorithm</a:t>
            </a:r>
          </a:p>
        </p:txBody>
      </p:sp>
      <p:pic>
        <p:nvPicPr>
          <p:cNvPr id="21" name="Picture 20" descr="04_flowch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13405" y="3657600"/>
            <a:ext cx="6080760" cy="815468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5339059" y="12013457"/>
            <a:ext cx="702945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C0392B"/>
                </a:solidFill>
                <a:latin typeface="Calibri"/>
              </a:rPr>
              <a:t>Bad Data Detection in Action</a:t>
            </a:r>
          </a:p>
        </p:txBody>
      </p:sp>
      <p:pic>
        <p:nvPicPr>
          <p:cNvPr id="23" name="Picture 22" descr="09_residuals_examp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39059" y="12626105"/>
            <a:ext cx="7029450" cy="3708023"/>
          </a:xfrm>
          <a:prstGeom prst="rect">
            <a:avLst/>
          </a:prstGeom>
        </p:spPr>
      </p:pic>
      <p:pic>
        <p:nvPicPr>
          <p:cNvPr id="24" name="Picture 23" descr="06_blindspo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339059" y="16535296"/>
            <a:ext cx="7029450" cy="319132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779989" y="3044952"/>
            <a:ext cx="702945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C0392B"/>
                </a:solidFill>
                <a:latin typeface="Calibri"/>
              </a:rPr>
              <a:t>Results</a:t>
            </a:r>
          </a:p>
        </p:txBody>
      </p:sp>
      <p:pic>
        <p:nvPicPr>
          <p:cNvPr id="26" name="Picture 25" descr="05_mode_comparis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779989" y="3657600"/>
            <a:ext cx="7029450" cy="2759321"/>
          </a:xfrm>
          <a:prstGeom prst="rect">
            <a:avLst/>
          </a:prstGeom>
        </p:spPr>
      </p:pic>
      <p:pic>
        <p:nvPicPr>
          <p:cNvPr id="27" name="Picture 26" descr="08_timeserie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779989" y="6645521"/>
            <a:ext cx="7029450" cy="3895283"/>
          </a:xfrm>
          <a:prstGeom prst="rect">
            <a:avLst/>
          </a:prstGeom>
        </p:spPr>
      </p:pic>
      <p:pic>
        <p:nvPicPr>
          <p:cNvPr id="28" name="Picture 27" descr="11_critical_measuremen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2779989" y="10769405"/>
            <a:ext cx="7029450" cy="363175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2779989" y="14629759"/>
            <a:ext cx="702945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C0392B"/>
                </a:solidFill>
                <a:latin typeface="Calibri"/>
              </a:rPr>
              <a:t>Conclusions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779989" y="15242407"/>
            <a:ext cx="702945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 i="0">
                <a:solidFill>
                  <a:srgbClr val="1C2833"/>
                </a:solidFill>
                <a:latin typeface="Calibri"/>
              </a:rPr>
              <a:t>•  Full AC-WLS estimator built from scratch; converges in 2–3 Newton iterations with warm start.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 i="0">
                <a:solidFill>
                  <a:srgbClr val="1C2833"/>
                </a:solidFill>
                <a:latin typeface="Calibri"/>
              </a:rPr>
              <a:t>•  6 PMUs restore full observability (rank 19 → 27) — but only PMUs at unobservable buses add rank: placement matters more than count.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 i="0">
                <a:solidFill>
                  <a:srgbClr val="1C2833"/>
                </a:solidFill>
                <a:latin typeface="Calibri"/>
              </a:rPr>
              <a:t>•  SCADA + PMU fusion gives ~4.5× lower voltage RMSE than SCADA-only (7.8×10⁻⁴ vs 3.5×10⁻³ pu).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 i="0">
                <a:solidFill>
                  <a:srgbClr val="1C2833"/>
                </a:solidFill>
                <a:latin typeface="Calibri"/>
              </a:rPr>
              <a:t>•  The normalized-residual test catches every injected gross error under redundant metering.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 i="0">
                <a:solidFill>
                  <a:srgbClr val="1C2833"/>
                </a:solidFill>
                <a:latin typeface="Calibri"/>
              </a:rPr>
              <a:t>•  Detection capability is set by metering redundancy, not the algorithm: critical measurements remain unverifiable.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