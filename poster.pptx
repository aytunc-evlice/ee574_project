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21387816"/>
  <p:notesSz cx="21387816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210312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275784" cy="1005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2058753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AC-WLS Power System State Estimation with PMU Integration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05875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EE574 Real-Time Power System Monitoring  —  Semester Project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51378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Aytunç Evlice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1798564" y="256032"/>
            <a:ext cx="3291840" cy="1554480"/>
          </a:xfrm>
          <a:prstGeom prst="rect">
            <a:avLst/>
          </a:prstGeom>
          <a:solidFill>
            <a:srgbClr val="1A3A6B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98564" y="34747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1798564" y="1216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5291572" y="256032"/>
            <a:ext cx="3291840" cy="1554480"/>
          </a:xfrm>
          <a:prstGeom prst="rect">
            <a:avLst/>
          </a:prstGeom>
          <a:solidFill>
            <a:srgbClr val="1A3A6B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91572" y="34747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5291572" y="1216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8784580" y="256032"/>
            <a:ext cx="3291840" cy="1554480"/>
          </a:xfrm>
          <a:prstGeom prst="rect">
            <a:avLst/>
          </a:prstGeom>
          <a:solidFill>
            <a:srgbClr val="1A3A6B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84580" y="34747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8784580" y="1216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2277588" y="256032"/>
            <a:ext cx="3291840" cy="1554480"/>
          </a:xfrm>
          <a:prstGeom prst="rect">
            <a:avLst/>
          </a:prstGeom>
          <a:solidFill>
            <a:srgbClr val="1A3A6B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7588" y="34747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2277588" y="1216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Passed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65760" y="2304288"/>
            <a:ext cx="7235190" cy="99841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304288"/>
            <a:ext cx="723519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04288"/>
            <a:ext cx="100584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2304288"/>
            <a:ext cx="70340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02920" y="2871216"/>
            <a:ext cx="696087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 is the core algorithm of every Energy Management System (EMS). It fuses noisy SCADA and PMU measurements into a consistent estimate of the power system operating point (bus voltages and angles), enabling real-time monitoring and control.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69608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full AC-WLS state estimator from scratch: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4700016"/>
            <a:ext cx="6960870" cy="746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Newton-based WLS iterative solver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Jacobian (all measurement types)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π-model (off-nominal tap ratios)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 phasor measurement integration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observability analysis (SVD rank)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Normalized-residual bad data detection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65760" y="12489607"/>
            <a:ext cx="7235190" cy="83038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12489607"/>
            <a:ext cx="723519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12489607"/>
            <a:ext cx="100584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12489607"/>
            <a:ext cx="70340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02920" y="13056535"/>
            <a:ext cx="6960870" cy="7618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14-bus test network (1961 AEP system)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buses,  17 branches,  3 transformers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generator/slack buses,  9 load buses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ratios: 6→9 (0.978), 6→10 (0.969), 4→12 (0.932)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vector:  x = [θ₂…θ₁₄, V₁…V₁₄]  →  27 states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SCADA: σV = 0.005 pu,  σPQ = 0.01 pu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PMU: σ = 0.0001 pu  (100× more accurate than SCADA)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802118" y="2304288"/>
            <a:ext cx="7235190" cy="1848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02118" y="2304288"/>
            <a:ext cx="723519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02118" y="2304288"/>
            <a:ext cx="100584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5854" y="2304288"/>
            <a:ext cx="70340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7939278" y="2871216"/>
            <a:ext cx="69608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7939278" y="3236976"/>
            <a:ext cx="696087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39278" y="3236976"/>
            <a:ext cx="73152" cy="5303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03870" y="3236976"/>
            <a:ext cx="6759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[θ₂ … θN, V₁ … VN]  (2N−1 states, θ₁ = 0)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939278" y="3858768"/>
            <a:ext cx="69608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Objective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7939278" y="4224528"/>
            <a:ext cx="696087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39278" y="4224528"/>
            <a:ext cx="73152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03870" y="4224528"/>
            <a:ext cx="6759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J(x) = (z − h(x))ᵀ W (z − h(x))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diag(1/σᵢ²)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7939278" y="5230368"/>
            <a:ext cx="69608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Normal Equations (per iteration)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7939278" y="5596128"/>
            <a:ext cx="696087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39278" y="5596128"/>
            <a:ext cx="73152" cy="5303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03870" y="5596128"/>
            <a:ext cx="6759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(HᵀWH) Δx = Hᵀ W (z − h(x))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7939278" y="6217920"/>
            <a:ext cx="6960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dh/dx  is the analytical Jacobian (all measurement types).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7939278" y="6693408"/>
            <a:ext cx="69608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7939278" y="7059168"/>
            <a:ext cx="69608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line search: step α is halved until J decreases, preventing divergence. Warm start from load-flow solution → converges in 2–3 iterations.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7939278" y="7927848"/>
            <a:ext cx="69608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Check</a:t>
            </a:r>
            <a:endParaRPr lang="en-US" sz="1900" dirty="0"/>
          </a:p>
        </p:txBody>
      </p:sp>
      <p:sp>
        <p:nvSpPr>
          <p:cNvPr id="51" name="Shape 49"/>
          <p:cNvSpPr/>
          <p:nvPr/>
        </p:nvSpPr>
        <p:spPr>
          <a:xfrm>
            <a:off x="7939278" y="8293608"/>
            <a:ext cx="696087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39278" y="8293608"/>
            <a:ext cx="73152" cy="5303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03870" y="8293608"/>
            <a:ext cx="6759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rank(H) = n_states  ⟺  system is observable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7939278" y="8915400"/>
            <a:ext cx="69608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via SVD at flat start. PMUs at buses {2,5,9,10,12,14} restore full observability: rank 19→27, adding 45 redundant degrees of freedom.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7939278" y="9601200"/>
            <a:ext cx="69608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Detection (Normalized Residual Test)</a:t>
            </a:r>
            <a:endParaRPr lang="en-US" sz="1900" dirty="0"/>
          </a:p>
        </p:txBody>
      </p:sp>
      <p:sp>
        <p:nvSpPr>
          <p:cNvPr id="56" name="Shape 54"/>
          <p:cNvSpPr/>
          <p:nvPr/>
        </p:nvSpPr>
        <p:spPr>
          <a:xfrm>
            <a:off x="7939278" y="9966960"/>
            <a:ext cx="696087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39278" y="9966960"/>
            <a:ext cx="73152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03870" y="9966960"/>
            <a:ext cx="67597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r̄ᵢ = rᵢ / √Ωᵢᵢ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 = R − H(HᵀWH)⁻¹Hᵀ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if |r̄ᵢ| &gt; 3.0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7939278" y="11109960"/>
            <a:ext cx="69608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clean conditions r̄ᵢ ~ N(0,1). Values exceeding 3.0 (3σ) indicate gross errors. The measurement with the largest |r̄ᵢ| is removed; the estimator re-runs without it.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15238476" y="2304288"/>
            <a:ext cx="7235190" cy="1848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5238476" y="2304288"/>
            <a:ext cx="723519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238476" y="2304288"/>
            <a:ext cx="100584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412212" y="2304288"/>
            <a:ext cx="70340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THREE SCENARIOS</a:t>
            </a:r>
            <a:endParaRPr lang="en-US" sz="1900" dirty="0"/>
          </a:p>
        </p:txBody>
      </p:sp>
      <p:sp>
        <p:nvSpPr>
          <p:cNvPr id="64" name="Shape 62"/>
          <p:cNvSpPr/>
          <p:nvPr/>
        </p:nvSpPr>
        <p:spPr>
          <a:xfrm>
            <a:off x="15375636" y="2871216"/>
            <a:ext cx="6960870" cy="402336"/>
          </a:xfrm>
          <a:prstGeom prst="rect">
            <a:avLst/>
          </a:prstGeom>
          <a:solidFill>
            <a:srgbClr val="7B1818"/>
          </a:solidFill>
          <a:ln w="12700">
            <a:solidFill>
              <a:srgbClr val="7B181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485364" y="2871216"/>
            <a:ext cx="6823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Original SCADA  (Unobservable)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375636" y="3273552"/>
            <a:ext cx="6960870" cy="1856232"/>
          </a:xfrm>
          <a:prstGeom prst="rect">
            <a:avLst/>
          </a:prstGeom>
          <a:solidFill>
            <a:srgbClr val="F4F6FB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485364" y="3346704"/>
            <a:ext cx="677799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measurements from measure.dat  (sections 1–6)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rank: 19/27  (deficit 8 — not observable!)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Unobservable buses: 9, 10, 12, 14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objective J = 25,101  (model–data mismatch)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residuals |r̄| &gt; 10,000 — estimation unreliable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15375636" y="5276088"/>
            <a:ext cx="6960870" cy="40233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5485364" y="5276088"/>
            <a:ext cx="6823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Synthetic SCADA + PMU  (Clean)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375636" y="5678424"/>
            <a:ext cx="696087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485364" y="5751576"/>
            <a:ext cx="677799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measurements  (58 SCADA + 14 PMU at buses {2,5,9,10,12,14})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rank: 27/27  ✓  (+45 redundant degrees of freedom)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in 2 iterations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voltage = 0.00055 pu   |   RMSE angle = 0.016°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J = 42.4 ≈ degrees of freedom  ✓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measurements flagged as bad data  ✓</a:t>
            </a:r>
            <a:endParaRPr lang="en-US" sz="1700" dirty="0"/>
          </a:p>
        </p:txBody>
      </p:sp>
      <p:sp>
        <p:nvSpPr>
          <p:cNvPr id="72" name="Shape 70"/>
          <p:cNvSpPr/>
          <p:nvPr/>
        </p:nvSpPr>
        <p:spPr>
          <a:xfrm>
            <a:off x="15375636" y="8019288"/>
            <a:ext cx="6960870" cy="402336"/>
          </a:xfrm>
          <a:prstGeom prst="rect">
            <a:avLst/>
          </a:prstGeom>
          <a:solidFill>
            <a:srgbClr val="0C3D8F"/>
          </a:solidFill>
          <a:ln w="12700">
            <a:solidFill>
              <a:srgbClr val="0C3D8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5485364" y="8019288"/>
            <a:ext cx="6823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Bad Data Injected &amp; Detected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375636" y="8421624"/>
            <a:ext cx="6960870" cy="1856232"/>
          </a:xfrm>
          <a:prstGeom prst="rect">
            <a:avLst/>
          </a:prstGeom>
          <a:solidFill>
            <a:srgbClr val="F4F6FB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5485364" y="8494776"/>
            <a:ext cx="677799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 pu gross error injected into Pflow(1→3)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J rises to 2,236  (clear alarm)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residual: Pflow(1→3),  |r̄| = 44.9  →  correctly identified  ✓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removal: RMSE voltage = 0.00054 pu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fully recovered to Scenario 2 accuracy  ✓</a:t>
            </a:r>
            <a:endParaRPr lang="en-US" sz="1700" dirty="0"/>
          </a:p>
        </p:txBody>
      </p:sp>
      <p:sp>
        <p:nvSpPr>
          <p:cNvPr id="76" name="Text 74"/>
          <p:cNvSpPr/>
          <p:nvPr/>
        </p:nvSpPr>
        <p:spPr>
          <a:xfrm>
            <a:off x="15375636" y="10424160"/>
            <a:ext cx="69608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375636" y="10789920"/>
          <a:ext cx="6960870" cy="9957816"/>
        </p:xfrm>
        <a:graphic>
          <a:graphicData uri="http://schemas.openxmlformats.org/drawingml/2006/table">
            <a:tbl>
              <a:tblPr/>
              <a:tblGrid>
                <a:gridCol w="2993174"/>
                <a:gridCol w="696087"/>
                <a:gridCol w="904913"/>
                <a:gridCol w="1252957"/>
                <a:gridCol w="1113739"/>
              </a:tblGrid>
              <a:tr h="24894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J_WLS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</a:tr>
              <a:tr h="24894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Sc1: Original SCADA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4894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Sc2: SCADA + PMU (clean)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4894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Sc3: Bad data injected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8" name="Shape 75"/>
          <p:cNvSpPr/>
          <p:nvPr/>
        </p:nvSpPr>
        <p:spPr>
          <a:xfrm>
            <a:off x="22674834" y="2304288"/>
            <a:ext cx="7235190" cy="979925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22674834" y="2304288"/>
            <a:ext cx="723519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2674834" y="2304288"/>
            <a:ext cx="100584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2848570" y="2304288"/>
            <a:ext cx="70340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MULTI-NETWORK VALIDATION</a:t>
            </a:r>
            <a:endParaRPr lang="en-US" sz="1900" dirty="0"/>
          </a:p>
        </p:txBody>
      </p:sp>
      <p:sp>
        <p:nvSpPr>
          <p:cNvPr id="82" name="Text 79"/>
          <p:cNvSpPr/>
          <p:nvPr/>
        </p:nvSpPr>
        <p:spPr>
          <a:xfrm>
            <a:off x="22811994" y="2871216"/>
            <a:ext cx="69608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estimator was validated on 8 networks from 3 to 40 buses using synthetically generated test cases. All 8/8 cases passed all four checks.</a:t>
            </a:r>
            <a:endParaRPr lang="en-US" sz="17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11994" y="3630168"/>
          <a:ext cx="6960870" cy="8354507"/>
        </p:xfrm>
        <a:graphic>
          <a:graphicData uri="http://schemas.openxmlformats.org/drawingml/2006/table">
            <a:tbl>
              <a:tblPr/>
              <a:tblGrid>
                <a:gridCol w="1740218"/>
                <a:gridCol w="835304"/>
                <a:gridCol w="904913"/>
                <a:gridCol w="2088261"/>
                <a:gridCol w="1392174"/>
              </a:tblGrid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RMSE_V (pu)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E"/>
                    </a:solidFill>
                  </a:tcPr>
                </a:tc>
              </a:tr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3-BUS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5-BUS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IEEE-14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RAND-7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RAND-10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RAND-20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28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RAND-40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4" name="Shape 80"/>
          <p:cNvSpPr/>
          <p:nvPr/>
        </p:nvSpPr>
        <p:spPr>
          <a:xfrm>
            <a:off x="22674834" y="12304715"/>
            <a:ext cx="7235190" cy="5236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85" name="Shape 81"/>
          <p:cNvSpPr/>
          <p:nvPr/>
        </p:nvSpPr>
        <p:spPr>
          <a:xfrm>
            <a:off x="22674834" y="12304715"/>
            <a:ext cx="723519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22674834" y="12304715"/>
            <a:ext cx="100584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22848570" y="12304715"/>
            <a:ext cx="70340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900" dirty="0"/>
          </a:p>
        </p:txBody>
      </p:sp>
      <p:sp>
        <p:nvSpPr>
          <p:cNvPr id="88" name="Text 84"/>
          <p:cNvSpPr/>
          <p:nvPr/>
        </p:nvSpPr>
        <p:spPr>
          <a:xfrm>
            <a:off x="22811994" y="12871643"/>
            <a:ext cx="6960870" cy="455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AC-WLS estimator built from scratch with analytical Jacobian and transformer π-model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 placement at 6 buses restores full observability (rank 19→27, +45 dof)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residual test correctly identifies injected errors (|r̄| = 44.9 vs threshold 3.0)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is robust across 3–40 bus topologies (8/8 PASS)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J ≈ degrees of freedom confirms statistical consistency of clean estimates</a:t>
            </a:r>
            <a:endParaRPr lang="en-US" sz="1700" dirty="0"/>
          </a:p>
        </p:txBody>
      </p:sp>
      <p:sp>
        <p:nvSpPr>
          <p:cNvPr id="89" name="Shape 85"/>
          <p:cNvSpPr/>
          <p:nvPr/>
        </p:nvSpPr>
        <p:spPr>
          <a:xfrm>
            <a:off x="22674834" y="17742743"/>
            <a:ext cx="7235190" cy="30507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0" name="Shape 86"/>
          <p:cNvSpPr/>
          <p:nvPr/>
        </p:nvSpPr>
        <p:spPr>
          <a:xfrm>
            <a:off x="22674834" y="17742743"/>
            <a:ext cx="723519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22674834" y="17742743"/>
            <a:ext cx="100584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22848570" y="17742743"/>
            <a:ext cx="70340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93" name="Text 89"/>
          <p:cNvSpPr/>
          <p:nvPr/>
        </p:nvSpPr>
        <p:spPr>
          <a:xfrm>
            <a:off x="22811994" y="18309671"/>
            <a:ext cx="6960870" cy="2392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Monticelli, State Estimation in Electric Power Systems, Kluwer, 1999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A.J. Wood &amp; B.F. Wollenberg, Power Generation Operation and Control, Wiley, 2013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CDF format: IEEE Trans. PAS, Vol. PAS-92, No. 6, 1973</a:t>
            </a:r>
            <a:endParaRPr lang="en-US" sz="1500" dirty="0"/>
          </a:p>
        </p:txBody>
      </p:sp>
      <p:sp>
        <p:nvSpPr>
          <p:cNvPr id="94" name="Shape 90"/>
          <p:cNvSpPr/>
          <p:nvPr/>
        </p:nvSpPr>
        <p:spPr>
          <a:xfrm>
            <a:off x="0" y="20884896"/>
            <a:ext cx="30275784" cy="50292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0" y="20884896"/>
            <a:ext cx="30275784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365760" y="20976336"/>
            <a:ext cx="217985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EE574  |  Real-Time Power System Monitoring  |  AC-WLS State Estimator  |  M. Aytunç Evlice</a:t>
            </a:r>
            <a:endParaRPr lang="en-US" sz="1400" dirty="0"/>
          </a:p>
        </p:txBody>
      </p:sp>
      <p:sp>
        <p:nvSpPr>
          <p:cNvPr id="97" name="Text 93"/>
          <p:cNvSpPr/>
          <p:nvPr/>
        </p:nvSpPr>
        <p:spPr>
          <a:xfrm>
            <a:off x="22404080" y="20976336"/>
            <a:ext cx="7266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github.com/aytuncevlice/EE574_Project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AC-WLS Power System State Estimation with PMU Integration</dc:title>
  <dc:subject>PptxGenJS Presentation</dc:subject>
  <dc:creator>M. Aytunc Evlice</dc:creator>
  <cp:lastModifiedBy>M. Aytunc Evlice</cp:lastModifiedBy>
  <cp:revision>1</cp:revision>
  <dcterms:created xsi:type="dcterms:W3CDTF">2026-06-10T06:04:50Z</dcterms:created>
  <dcterms:modified xsi:type="dcterms:W3CDTF">2026-06-10T06:04:50Z</dcterms:modified>
</cp:coreProperties>
</file>